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8" r:id="rId4"/>
    <p:sldId id="272" r:id="rId5"/>
    <p:sldId id="259" r:id="rId6"/>
    <p:sldId id="260" r:id="rId7"/>
    <p:sldId id="265" r:id="rId8"/>
    <p:sldId id="261" r:id="rId9"/>
    <p:sldId id="270" r:id="rId10"/>
    <p:sldId id="271" r:id="rId11"/>
    <p:sldId id="264" r:id="rId12"/>
    <p:sldId id="269" r:id="rId13"/>
    <p:sldId id="263" r:id="rId14"/>
    <p:sldId id="267" r:id="rId15"/>
    <p:sldId id="273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87B"/>
    <a:srgbClr val="009999"/>
    <a:srgbClr val="C4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6E28-C9D2-01AF-13CA-ADE8F2383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F164F-5B83-9E31-6E0E-53EB23D64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2435B-02C6-5EA4-90A8-D34B8BFB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EB7F-14A5-D69E-DA80-B842F4BC5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CF427-BF97-41A7-1170-EEB2E636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06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DD68-BE1D-99D2-804B-3F59B757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F530B-997C-8D35-8FDC-AFADDCBF2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FEB92-AC1A-4037-9361-19153AFB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60416-9F31-0177-F448-48170914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1F77-B32D-C25F-D24D-E4485319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07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18E7-0F7B-9A16-5494-D51EDD47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637-513F-E571-AD68-B116A4391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38BEC-58E3-B8C0-DE81-141D44336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576B8-672C-9AC2-F376-7E705788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656DC-82EC-E024-75BB-D49EBFD0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165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4A71-520D-A546-3811-B28998B1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B0164-FAC8-D8C8-992D-68DAF27C9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1A41E-688E-A09B-3206-0676060EC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297EF-14E3-F6FE-8FBD-4AAE151E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700D-464C-826E-9FAD-A45F05FA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7FF43-2A3B-DA6B-3E39-93789EB5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2142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FEFB-B23A-C228-A1BC-A0FF0307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B7DCF-A019-3C32-6021-60DA42704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45E2-78FB-F1CB-A379-D763859F3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0A3F5-9955-4031-D93D-81F4AD206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A14D0-CAD0-87DE-3D16-C515E6392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DB77D9-2569-7E04-B571-482CABEB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2D346B-F736-3F9A-82F8-78526BA5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D43C0-A923-9E32-A8B6-02364283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792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8D8F-AFAB-3D2B-41F9-570967F7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FC1E7-AE6D-B3B4-E3FF-6E22DFE2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9748C-AC02-B857-8BEC-FD281DAB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45479-A386-1DC4-3F6A-EA42B616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30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19A27-67D0-3F23-9BC8-5D4FB622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25FCE-15E1-2394-B698-D849D5BA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AB5B6-3980-24B3-CCC7-285C5385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952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812E-818A-9549-9FF2-810141F6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5ACE-BFF0-F81F-D9D8-F1FF32152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6E9E-6A62-92BD-1D13-515D673B1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F9864-41F1-2B11-C25A-BF33D4F1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C0E26-C637-8C97-3BBC-828E9A10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9798B-0D79-E838-F17D-102DDE6D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007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C9AC-702D-B548-F575-58C7C6112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3EE10-37DC-8DDA-B73A-7E820FE2A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3BF56-0542-5F99-B173-4FEAE61E0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5F058-D135-D6A1-0594-DA6FF447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841E3-CDEE-987C-30ED-44EF9D73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DD16D-24BA-3FE2-B901-C60EDE1C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083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082A-50D9-0C96-3207-D8EA8E02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F3796-5E71-852F-5EDF-051B82ECB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06C6-2938-C1A3-6BE2-2F7CAF53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4CD2F-5871-80A6-91C8-DBDED14A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4377A-8D86-33F7-CE00-E34C1E95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019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308B3-9154-2FD6-F9A1-7CED16E16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1E675-6E05-58CE-99D5-10C22E1E7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BAD30-1057-32CD-E716-3E9AE40F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89947-5B08-48C5-69EF-41FF9842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3055C-4E5E-566E-DB87-1CB11F9A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537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97577-0C4E-6B48-893C-3B9EDD32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44301-6A64-FF40-2C4D-D1E4D5F98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92ED4-4B01-32FB-F642-8A20B0422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013AF-C3DC-40BC-86EA-29465A225583}" type="datetimeFigureOut">
              <a:rPr lang="en-PK" smtClean="0"/>
              <a:t>05/11/2026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C3F45-8B9B-EF88-2B46-F448112CD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E2D3-4B07-48A7-B66C-B930F3855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CD0FF-F55E-4C6B-ABF5-99BCE78A9A4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158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8757EA-7728-CE9E-3AC6-F1A6B8B87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12" y="134292"/>
            <a:ext cx="6544588" cy="6001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26468F-7C0A-0117-0532-C27E01D1AB95}"/>
              </a:ext>
            </a:extLst>
          </p:cNvPr>
          <p:cNvSpPr txBox="1"/>
          <p:nvPr/>
        </p:nvSpPr>
        <p:spPr>
          <a:xfrm>
            <a:off x="598715" y="3135086"/>
            <a:ext cx="699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 patient call prioritization using logic gates</a:t>
            </a:r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C1DD5-319D-6982-53E8-EE76DC9A09F3}"/>
              </a:ext>
            </a:extLst>
          </p:cNvPr>
          <p:cNvSpPr txBox="1"/>
          <p:nvPr/>
        </p:nvSpPr>
        <p:spPr>
          <a:xfrm>
            <a:off x="685800" y="1230086"/>
            <a:ext cx="41256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9687B"/>
                </a:solidFill>
              </a:rPr>
              <a:t>ICU NURSE CALL SYSTEM</a:t>
            </a:r>
            <a:endParaRPr lang="en-PK" sz="4400" b="1" dirty="0">
              <a:solidFill>
                <a:srgbClr val="0968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7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6B6BC-5719-A9A6-4796-4BA2D7B6B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094" y="6559213"/>
            <a:ext cx="628906" cy="2987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0B93D9-1B69-D913-6E85-46D16AB836F8}"/>
              </a:ext>
            </a:extLst>
          </p:cNvPr>
          <p:cNvSpPr txBox="1"/>
          <p:nvPr/>
        </p:nvSpPr>
        <p:spPr>
          <a:xfrm>
            <a:off x="6730469" y="1910259"/>
            <a:ext cx="496388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PRESENTED BY: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LAIBA ALTAF (62431)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HOORIYA NOOR (64048)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ANMOL FATIMA (64316)</a:t>
            </a:r>
            <a:endParaRPr lang="en-PK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F88F6-D9A0-AB68-7907-320B4977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6" y="216057"/>
            <a:ext cx="5255015" cy="496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1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BBF3E-445D-6ED7-E085-B7E5DCD3F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81" y="1036575"/>
            <a:ext cx="4029637" cy="4153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75CD4E-8E03-D4C7-715D-453CF6A79AD3}"/>
              </a:ext>
            </a:extLst>
          </p:cNvPr>
          <p:cNvSpPr txBox="1"/>
          <p:nvPr/>
        </p:nvSpPr>
        <p:spPr>
          <a:xfrm>
            <a:off x="4767942" y="3429000"/>
            <a:ext cx="6662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Priority logic </a:t>
            </a:r>
            <a:r>
              <a:rPr lang="en-US" dirty="0" smtClean="0"/>
              <a:t>addresses patient</a:t>
            </a:r>
            <a:r>
              <a:rPr lang="en-US" dirty="0"/>
              <a:t> calls with varying urgency to prevent </a:t>
            </a:r>
            <a:endParaRPr lang="en-US" dirty="0" smtClean="0"/>
          </a:p>
          <a:p>
            <a:r>
              <a:rPr lang="en-US" dirty="0" smtClean="0"/>
              <a:t>delayed</a:t>
            </a:r>
            <a:r>
              <a:rPr lang="en-US" dirty="0"/>
              <a:t> responses.</a:t>
            </a:r>
          </a:p>
          <a:p>
            <a:r>
              <a:rPr lang="en-US" dirty="0"/>
              <a:t>Designed to classify calls as </a:t>
            </a:r>
            <a:r>
              <a:rPr lang="en-US" b="1" dirty="0"/>
              <a:t>Code Blue, Urgent, or Normal</a:t>
            </a:r>
            <a:r>
              <a:rPr lang="en-US" dirty="0"/>
              <a:t> and trigger immediate hardware indicators for high-priority events.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C2799-7079-8503-BE19-1798DE57E42E}"/>
              </a:ext>
            </a:extLst>
          </p:cNvPr>
          <p:cNvSpPr txBox="1"/>
          <p:nvPr/>
        </p:nvSpPr>
        <p:spPr>
          <a:xfrm>
            <a:off x="4767942" y="2343874"/>
            <a:ext cx="46264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Introduction</a:t>
            </a:r>
            <a:endParaRPr lang="en-PK" sz="4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55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" y="1018902"/>
            <a:ext cx="880436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9687B"/>
                </a:solidFill>
              </a:rPr>
              <a:t>Scenario Explanation:</a:t>
            </a:r>
          </a:p>
          <a:p>
            <a:endParaRPr lang="en-US" sz="2400" b="1" dirty="0" smtClean="0"/>
          </a:p>
          <a:p>
            <a:r>
              <a:rPr lang="en-US" dirty="0" smtClean="0"/>
              <a:t>In </a:t>
            </a:r>
            <a:r>
              <a:rPr lang="en-US" dirty="0"/>
              <a:t>an </a:t>
            </a:r>
            <a:r>
              <a:rPr lang="en-US" b="1" dirty="0"/>
              <a:t>Intensive Care Unit (ICU)</a:t>
            </a:r>
            <a:r>
              <a:rPr lang="en-US" dirty="0"/>
              <a:t>, timely response to patient calls is critical for patient </a:t>
            </a:r>
            <a:endParaRPr lang="en-US" dirty="0" smtClean="0"/>
          </a:p>
          <a:p>
            <a:r>
              <a:rPr lang="en-US" dirty="0" smtClean="0"/>
              <a:t>safety </a:t>
            </a:r>
            <a:r>
              <a:rPr lang="en-US" dirty="0"/>
              <a:t>and care quality. To efficiently manage and prioritize these calls, a logic </a:t>
            </a:r>
            <a:endParaRPr lang="en-US" dirty="0" smtClean="0"/>
          </a:p>
          <a:p>
            <a:r>
              <a:rPr lang="en-US" dirty="0" smtClean="0"/>
              <a:t>circuit-based </a:t>
            </a:r>
            <a:r>
              <a:rPr lang="en-US" dirty="0"/>
              <a:t>system can be implemented.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system uses logic gates to process </a:t>
            </a:r>
            <a:r>
              <a:rPr lang="en-US" b="1" dirty="0"/>
              <a:t>three types </a:t>
            </a:r>
            <a:r>
              <a:rPr lang="en-US" dirty="0"/>
              <a:t>of patient call signals: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Normal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Urgent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Code </a:t>
            </a:r>
            <a:r>
              <a:rPr lang="en-US" dirty="0"/>
              <a:t>Blue.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circuit assigns priority levels to each call type—Code Blue being the </a:t>
            </a:r>
            <a:r>
              <a:rPr lang="en-US" b="1" dirty="0"/>
              <a:t>highest priority</a:t>
            </a:r>
            <a:r>
              <a:rPr lang="en-US" dirty="0"/>
              <a:t>, followed by Urgent, then Normal. Based on these inputs, the system controls visual indicators (lights) and auditory alerts (</a:t>
            </a:r>
            <a:r>
              <a:rPr lang="en-US" dirty="0" smtClean="0"/>
              <a:t>buzzers/ speaker) </a:t>
            </a:r>
            <a:r>
              <a:rPr lang="en-US" dirty="0"/>
              <a:t>to notify the medical staff of the most critical situation requiring immediate attention.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455" y="0"/>
            <a:ext cx="3278545" cy="27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AF37C-3FE4-4196-9A05-3E52288E9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159" y="0"/>
            <a:ext cx="64778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E9C23F-1D63-FF9D-8470-2FE583EE6F71}"/>
              </a:ext>
            </a:extLst>
          </p:cNvPr>
          <p:cNvSpPr txBox="1"/>
          <p:nvPr/>
        </p:nvSpPr>
        <p:spPr>
          <a:xfrm>
            <a:off x="1295400" y="2090058"/>
            <a:ext cx="4169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System Overview</a:t>
            </a:r>
            <a:endParaRPr lang="en-PK" sz="4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51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9BDE3-431A-D9E1-108E-5F3EA18B2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886"/>
            <a:ext cx="4944165" cy="6192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FFBF79-45D1-1CEF-4521-D274049AC3E6}"/>
              </a:ext>
            </a:extLst>
          </p:cNvPr>
          <p:cNvSpPr txBox="1"/>
          <p:nvPr/>
        </p:nvSpPr>
        <p:spPr>
          <a:xfrm>
            <a:off x="5295900" y="581617"/>
            <a:ext cx="4811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09687B"/>
                </a:solidFill>
              </a:rPr>
              <a:t>Components Used:</a:t>
            </a:r>
            <a:endParaRPr lang="en-PK" sz="4400" b="1" dirty="0">
              <a:solidFill>
                <a:srgbClr val="0968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569A1-58A8-7A12-4356-C8FC7ED45C2E}"/>
              </a:ext>
            </a:extLst>
          </p:cNvPr>
          <p:cNvSpPr txBox="1"/>
          <p:nvPr/>
        </p:nvSpPr>
        <p:spPr>
          <a:xfrm>
            <a:off x="5116286" y="3503950"/>
            <a:ext cx="517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2" name="TextBox 1"/>
          <p:cNvSpPr txBox="1"/>
          <p:nvPr/>
        </p:nvSpPr>
        <p:spPr>
          <a:xfrm>
            <a:off x="6000205" y="1546231"/>
            <a:ext cx="51903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Logic Gates</a:t>
            </a:r>
            <a:r>
              <a:rPr lang="en-US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AND gates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NOT gates</a:t>
            </a:r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Visual </a:t>
            </a:r>
            <a:r>
              <a:rPr lang="en-US" b="1" dirty="0"/>
              <a:t>Indicators</a:t>
            </a:r>
            <a:r>
              <a:rPr lang="en-US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Normal </a:t>
            </a:r>
            <a:r>
              <a:rPr lang="en-US" dirty="0"/>
              <a:t>Call </a:t>
            </a:r>
            <a:r>
              <a:rPr lang="en-US" dirty="0" smtClean="0"/>
              <a:t>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Urgent </a:t>
            </a:r>
            <a:r>
              <a:rPr lang="en-US" dirty="0"/>
              <a:t>Call </a:t>
            </a:r>
            <a:r>
              <a:rPr lang="en-US" dirty="0" smtClean="0"/>
              <a:t>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Code </a:t>
            </a:r>
            <a:r>
              <a:rPr lang="en-US" dirty="0"/>
              <a:t>Blue </a:t>
            </a:r>
            <a:r>
              <a:rPr lang="en-US" dirty="0" smtClean="0"/>
              <a:t>Light</a:t>
            </a:r>
          </a:p>
          <a:p>
            <a:endParaRPr lang="en-US" dirty="0"/>
          </a:p>
          <a:p>
            <a:r>
              <a:rPr lang="en-US" b="1" dirty="0" smtClean="0"/>
              <a:t>Auditory </a:t>
            </a:r>
            <a:r>
              <a:rPr lang="en-US" b="1" dirty="0"/>
              <a:t>Indicators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Normal Buzzer</a:t>
            </a:r>
          </a:p>
          <a:p>
            <a:endParaRPr lang="en-US" dirty="0" smtClean="0"/>
          </a:p>
          <a:p>
            <a:r>
              <a:rPr lang="en-US" b="1" dirty="0" smtClean="0"/>
              <a:t>Connecting Wires:</a:t>
            </a:r>
          </a:p>
          <a:p>
            <a:r>
              <a:rPr lang="en-US" dirty="0" smtClean="0"/>
              <a:t>To </a:t>
            </a:r>
            <a:r>
              <a:rPr lang="en-US" dirty="0"/>
              <a:t>connect components and </a:t>
            </a:r>
            <a:r>
              <a:rPr lang="en-US" dirty="0" smtClean="0"/>
              <a:t>inputs/outputs</a:t>
            </a:r>
          </a:p>
          <a:p>
            <a:endParaRPr lang="en-US" dirty="0" smtClean="0"/>
          </a:p>
          <a:p>
            <a:r>
              <a:rPr lang="en-US" b="1" dirty="0" smtClean="0"/>
              <a:t>Optional </a:t>
            </a:r>
            <a:r>
              <a:rPr lang="en-US" b="1" dirty="0"/>
              <a:t>Components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Resistors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0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9CB504-4354-D379-EE1C-F7CC3D12565E}"/>
              </a:ext>
            </a:extLst>
          </p:cNvPr>
          <p:cNvSpPr txBox="1"/>
          <p:nvPr/>
        </p:nvSpPr>
        <p:spPr>
          <a:xfrm>
            <a:off x="986246" y="1421674"/>
            <a:ext cx="5301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9687B"/>
                </a:solidFill>
              </a:rPr>
              <a:t>Processing Logic</a:t>
            </a:r>
            <a:endParaRPr lang="en-PK" sz="4800" b="1" dirty="0">
              <a:solidFill>
                <a:srgbClr val="0968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620CC-C645-D101-380D-65A3BA9673A9}"/>
              </a:ext>
            </a:extLst>
          </p:cNvPr>
          <p:cNvSpPr txBox="1"/>
          <p:nvPr/>
        </p:nvSpPr>
        <p:spPr>
          <a:xfrm>
            <a:off x="672738" y="2790428"/>
            <a:ext cx="8937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Combinational logic implements hierarchy: </a:t>
            </a:r>
            <a:endParaRPr lang="en-US" b="1" dirty="0" smtClean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NOT</a:t>
            </a:r>
            <a:r>
              <a:rPr lang="en-US" dirty="0"/>
              <a:t> blocks, AND conditions </a:t>
            </a:r>
            <a:r>
              <a:rPr lang="en-US" dirty="0" smtClean="0"/>
              <a:t>and finalizer</a:t>
            </a:r>
            <a:r>
              <a:rPr lang="en-US" dirty="0"/>
              <a:t> so </a:t>
            </a:r>
            <a:r>
              <a:rPr lang="en-US" dirty="0" smtClean="0"/>
              <a:t>Code</a:t>
            </a:r>
            <a:r>
              <a:rPr lang="en-US" dirty="0"/>
              <a:t> Blue </a:t>
            </a:r>
            <a:endParaRPr lang="en-US" dirty="0" smtClean="0"/>
          </a:p>
          <a:p>
            <a:r>
              <a:rPr lang="en-US" dirty="0" smtClean="0"/>
              <a:t>overrides</a:t>
            </a:r>
            <a:r>
              <a:rPr lang="en-US" dirty="0"/>
              <a:t> </a:t>
            </a:r>
            <a:r>
              <a:rPr lang="en-US" dirty="0" smtClean="0"/>
              <a:t>all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Urgent</a:t>
            </a:r>
            <a:r>
              <a:rPr lang="en-US" dirty="0"/>
              <a:t> acts only if Code Blue is </a:t>
            </a:r>
            <a:r>
              <a:rPr lang="en-US" dirty="0" smtClean="0"/>
              <a:t>inactive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Normal</a:t>
            </a:r>
            <a:r>
              <a:rPr lang="en-US" dirty="0"/>
              <a:t> is lowest priority.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AC8-74AF-5F41-F978-6944D6275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0" y="0"/>
            <a:ext cx="5730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0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3273-90CC-2250-B90C-FE51A96AD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98" y="807964"/>
            <a:ext cx="3934374" cy="4305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AB755D-6B6A-4ACC-5745-46899F534CBF}"/>
              </a:ext>
            </a:extLst>
          </p:cNvPr>
          <p:cNvSpPr txBox="1"/>
          <p:nvPr/>
        </p:nvSpPr>
        <p:spPr>
          <a:xfrm>
            <a:off x="4778829" y="1240971"/>
            <a:ext cx="3494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9687B"/>
                </a:solidFill>
              </a:rPr>
              <a:t>Outputs and Indicators</a:t>
            </a:r>
            <a:endParaRPr lang="en-PK" sz="4800" b="1" dirty="0">
              <a:solidFill>
                <a:srgbClr val="0968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9D677-E47F-9D2E-B5B2-6E8D1DC85446}"/>
              </a:ext>
            </a:extLst>
          </p:cNvPr>
          <p:cNvSpPr txBox="1"/>
          <p:nvPr/>
        </p:nvSpPr>
        <p:spPr>
          <a:xfrm>
            <a:off x="4778829" y="2788860"/>
            <a:ext cx="6847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Outputs: LEDs and buzzers mapped to distinct priority states to ensure clear, immediate alerts.</a:t>
            </a:r>
          </a:p>
          <a:p>
            <a:r>
              <a:rPr lang="en-US" dirty="0"/>
              <a:t>The indicator mapping assigns </a:t>
            </a:r>
            <a:r>
              <a:rPr lang="en-US" b="1" dirty="0"/>
              <a:t>Code Blue</a:t>
            </a:r>
            <a:r>
              <a:rPr lang="en-US" dirty="0"/>
              <a:t> to the highest-priority </a:t>
            </a:r>
            <a:r>
              <a:rPr lang="en-US" dirty="0" smtClean="0"/>
              <a:t>alarm</a:t>
            </a:r>
          </a:p>
          <a:p>
            <a:r>
              <a:rPr lang="en-US" b="1" dirty="0" smtClean="0"/>
              <a:t>Urgent</a:t>
            </a:r>
            <a:r>
              <a:rPr lang="en-US" dirty="0"/>
              <a:t> to conditional alerts, and Normal to a low-priority signal for minimal disruption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7413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693159-396B-E7B5-04C4-4B083AFE6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87" y="460964"/>
            <a:ext cx="7587342" cy="4373912"/>
          </a:xfrm>
          <a:prstGeom prst="rect">
            <a:avLst/>
          </a:prstGeom>
          <a:effectLst>
            <a:glow rad="279400">
              <a:schemeClr val="accent4">
                <a:lumMod val="50000"/>
                <a:alpha val="40000"/>
              </a:schemeClr>
            </a:glow>
            <a:outerShdw blurRad="50800" dist="50800" algn="ctr" rotWithShape="0">
              <a:srgbClr val="000000">
                <a:alpha val="43137"/>
              </a:srgbClr>
            </a:outerShdw>
            <a:reflection stA="91000" endPos="23000" dist="1016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EFD765-796B-CDA4-843E-D095A43E0C7F}"/>
              </a:ext>
            </a:extLst>
          </p:cNvPr>
          <p:cNvSpPr txBox="1"/>
          <p:nvPr/>
        </p:nvSpPr>
        <p:spPr>
          <a:xfrm>
            <a:off x="250371" y="228599"/>
            <a:ext cx="377734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WORKING OF THE SYSTEM:</a:t>
            </a:r>
            <a:endParaRPr lang="en-PK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0"/>
            <a:r>
              <a:rPr lang="en-US" sz="1600" dirty="0"/>
              <a:t>For A =&gt; 0, B =&gt; 0, the system generates an urgent condition output. This state activates the urgent indicator (red/emergency signal).</a:t>
            </a:r>
            <a:endParaRPr lang="en-PK" sz="1600" dirty="0"/>
          </a:p>
          <a:p>
            <a:r>
              <a:rPr lang="en-US" sz="1600" dirty="0"/>
              <a:t> </a:t>
            </a:r>
            <a:endParaRPr lang="en-PK" sz="1600" dirty="0"/>
          </a:p>
          <a:p>
            <a:pPr lvl="0"/>
            <a:r>
              <a:rPr lang="en-US" sz="1600" dirty="0"/>
              <a:t>For A =&gt; 0, B =&gt; 1, the system represents a normal condition, activating the green LED to indicate a stable patient state.</a:t>
            </a:r>
            <a:endParaRPr lang="en-PK" sz="1600" dirty="0"/>
          </a:p>
          <a:p>
            <a:r>
              <a:rPr lang="en-US" sz="1600" dirty="0"/>
              <a:t> </a:t>
            </a:r>
            <a:endParaRPr lang="en-PK" sz="1600" dirty="0"/>
          </a:p>
          <a:p>
            <a:pPr lvl="0"/>
            <a:r>
              <a:rPr lang="en-US" sz="1600" dirty="0"/>
              <a:t>For A =&gt; 1, B =&gt; 0, the system enters the most critical emergency state (blue code). This triggers the yellow LED along with the speaker/buzzer, indicating highest priority alert.</a:t>
            </a:r>
            <a:endParaRPr lang="en-PK" sz="1600" dirty="0"/>
          </a:p>
          <a:p>
            <a:r>
              <a:rPr lang="en-US" sz="1600" dirty="0"/>
              <a:t> </a:t>
            </a:r>
            <a:endParaRPr lang="en-PK" sz="1600" dirty="0"/>
          </a:p>
          <a:p>
            <a:pPr lvl="0"/>
            <a:r>
              <a:rPr lang="en-US" sz="1600" dirty="0"/>
              <a:t>For A =&gt; 1, B =&gt; 1, the system remains in a dead/no-signal state, where no indicators are activated.</a:t>
            </a:r>
            <a:endParaRPr lang="en-PK" sz="1600" dirty="0"/>
          </a:p>
          <a:p>
            <a:r>
              <a:rPr lang="en-US" sz="1600" dirty="0"/>
              <a:t> </a:t>
            </a:r>
            <a:endParaRPr lang="en-PK" sz="1600" dirty="0"/>
          </a:p>
          <a:p>
            <a:r>
              <a:rPr lang="en-US" sz="1600" dirty="0"/>
              <a:t>This design ensures clear, mutually exclusive prioritization of medical conditions for  unambiguous response.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571128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015193-880E-81D6-FE87-5829BF2F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46" y="457472"/>
            <a:ext cx="5266442" cy="3308985"/>
          </a:xfrm>
          <a:prstGeom prst="rect">
            <a:avLst/>
          </a:prstGeom>
          <a:effectLst>
            <a:glow rad="88900">
              <a:schemeClr val="tx2">
                <a:lumMod val="50000"/>
                <a:alpha val="40000"/>
              </a:schemeClr>
            </a:glow>
            <a:outerShdw blurRad="50800" dist="38100" dir="5400000" algn="ctr" rotWithShape="0">
              <a:srgbClr val="000000">
                <a:alpha val="43137"/>
              </a:srgbClr>
            </a:outerShdw>
            <a:reflection stA="74000" endPos="6000" dist="165100" dir="5400000" sy="-100000" algn="bl" rotWithShape="0"/>
            <a:softEdge rad="3175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7BCA5D-4940-AF25-D51A-72559B13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13" y="457473"/>
            <a:ext cx="5265227" cy="3309894"/>
          </a:xfrm>
          <a:prstGeom prst="rect">
            <a:avLst/>
          </a:prstGeom>
          <a:effectLst>
            <a:glow rad="127000">
              <a:schemeClr val="bg2">
                <a:lumMod val="50000"/>
              </a:schemeClr>
            </a:glow>
            <a:reflection stA="76000" endPos="14000" dist="50800" dir="5400000" sy="-100000" algn="bl" rotWithShape="0"/>
            <a:softEdge rad="254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24073-ADF2-DF24-F7EF-3E731A77B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375" y="3330302"/>
            <a:ext cx="5019675" cy="3070225"/>
          </a:xfrm>
          <a:prstGeom prst="rect">
            <a:avLst/>
          </a:prstGeom>
          <a:effectLst>
            <a:glow rad="127000">
              <a:schemeClr val="bg2">
                <a:lumMod val="50000"/>
              </a:schemeClr>
            </a:glow>
            <a:reflection endPos="17000" dist="50800" dir="5400000" sy="-100000" algn="bl" rotWithShape="0"/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594311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AEC4F-E2C2-6F59-A6E9-C40CEFA565E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6106377" cy="6858000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966C92-32E6-8A01-AE13-3769F32A5D3E}"/>
              </a:ext>
            </a:extLst>
          </p:cNvPr>
          <p:cNvSpPr txBox="1"/>
          <p:nvPr/>
        </p:nvSpPr>
        <p:spPr>
          <a:xfrm>
            <a:off x="6446519" y="816428"/>
            <a:ext cx="4539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9687B"/>
                </a:solidFill>
                <a:latin typeface="+mj-lt"/>
              </a:rPr>
              <a:t>Truth Table Logic</a:t>
            </a:r>
            <a:endParaRPr lang="en-PK" sz="4800" b="1" dirty="0">
              <a:solidFill>
                <a:srgbClr val="09687B"/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6296D3-61B9-5E13-0E00-69DAA6BAD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873244"/>
              </p:ext>
            </p:extLst>
          </p:nvPr>
        </p:nvGraphicFramePr>
        <p:xfrm>
          <a:off x="6912429" y="2168374"/>
          <a:ext cx="4169229" cy="2996184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50800" dir="5400000" algn="ctr" rotWithShape="0">
                    <a:schemeClr val="bg2">
                      <a:lumMod val="90000"/>
                      <a:alpha val="0"/>
                    </a:schemeClr>
                  </a:outerShdw>
                  <a:reflection stA="28000" endPos="16000" dist="50800" dir="5400000" sy="-100000" algn="bl" rotWithShape="0"/>
                </a:effectLst>
                <a:tableStyleId>{5C22544A-7EE6-4342-B048-85BDC9FD1C3A}</a:tableStyleId>
              </a:tblPr>
              <a:tblGrid>
                <a:gridCol w="515802">
                  <a:extLst>
                    <a:ext uri="{9D8B030D-6E8A-4147-A177-3AD203B41FA5}">
                      <a16:colId xmlns:a16="http://schemas.microsoft.com/office/drawing/2014/main" val="3858010067"/>
                    </a:ext>
                  </a:extLst>
                </a:gridCol>
                <a:gridCol w="623176">
                  <a:extLst>
                    <a:ext uri="{9D8B030D-6E8A-4147-A177-3AD203B41FA5}">
                      <a16:colId xmlns:a16="http://schemas.microsoft.com/office/drawing/2014/main" val="1454744313"/>
                    </a:ext>
                  </a:extLst>
                </a:gridCol>
                <a:gridCol w="1047914">
                  <a:extLst>
                    <a:ext uri="{9D8B030D-6E8A-4147-A177-3AD203B41FA5}">
                      <a16:colId xmlns:a16="http://schemas.microsoft.com/office/drawing/2014/main" val="12641257"/>
                    </a:ext>
                  </a:extLst>
                </a:gridCol>
                <a:gridCol w="1982337">
                  <a:extLst>
                    <a:ext uri="{9D8B030D-6E8A-4147-A177-3AD203B41FA5}">
                      <a16:colId xmlns:a16="http://schemas.microsoft.com/office/drawing/2014/main" val="2732185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A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B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Condition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Output Indicator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100945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0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PK" sz="12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Urgent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Red / </a:t>
                      </a:r>
                      <a:r>
                        <a:rPr lang="en-PK" sz="1200" kern="100">
                          <a:effectLst/>
                        </a:rPr>
                        <a:t>Emergency 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2777963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0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PK" sz="12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Normal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Green LED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138456484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1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PK" sz="12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Most Urgent (Blue Code)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Yellow LED + Speaker / Buzzer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512338628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1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PK" sz="12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>
                          <a:effectLst/>
                        </a:rPr>
                        <a:t>Dead / No Signal</a:t>
                      </a:r>
                      <a:endParaRPr lang="en-PK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200" kern="100" dirty="0">
                          <a:effectLst/>
                        </a:rPr>
                        <a:t>No Output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>
                    <a:solidFill>
                      <a:schemeClr val="accent1">
                        <a:tint val="20000"/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075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7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F1C611-D584-8EA4-AC1C-21CDBB8F5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19152"/>
              </p:ext>
            </p:extLst>
          </p:nvPr>
        </p:nvGraphicFramePr>
        <p:xfrm>
          <a:off x="321129" y="1001486"/>
          <a:ext cx="11549742" cy="4223658"/>
        </p:xfrm>
        <a:graphic>
          <a:graphicData uri="http://schemas.openxmlformats.org/drawingml/2006/table">
            <a:tbl>
              <a:tblPr firstRow="1" firstCol="1" bandRow="1">
                <a:effectLst>
                  <a:reflection stA="17000" endPos="22000" dist="50800" dir="5400000" sy="-100000" algn="bl" rotWithShape="0"/>
                </a:effectLst>
                <a:tableStyleId>{5C22544A-7EE6-4342-B048-85BDC9FD1C3A}</a:tableStyleId>
              </a:tblPr>
              <a:tblGrid>
                <a:gridCol w="3849914">
                  <a:extLst>
                    <a:ext uri="{9D8B030D-6E8A-4147-A177-3AD203B41FA5}">
                      <a16:colId xmlns:a16="http://schemas.microsoft.com/office/drawing/2014/main" val="2019397942"/>
                    </a:ext>
                  </a:extLst>
                </a:gridCol>
                <a:gridCol w="3849914">
                  <a:extLst>
                    <a:ext uri="{9D8B030D-6E8A-4147-A177-3AD203B41FA5}">
                      <a16:colId xmlns:a16="http://schemas.microsoft.com/office/drawing/2014/main" val="1759783435"/>
                    </a:ext>
                  </a:extLst>
                </a:gridCol>
                <a:gridCol w="3849914">
                  <a:extLst>
                    <a:ext uri="{9D8B030D-6E8A-4147-A177-3AD203B41FA5}">
                      <a16:colId xmlns:a16="http://schemas.microsoft.com/office/drawing/2014/main" val="2158047275"/>
                    </a:ext>
                  </a:extLst>
                </a:gridCol>
              </a:tblGrid>
              <a:tr h="7039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600" b="1" kern="100" dirty="0">
                          <a:effectLst/>
                        </a:rPr>
                        <a:t>Feature</a:t>
                      </a:r>
                      <a:endParaRPr lang="en-PK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600" b="1" kern="100" dirty="0">
                          <a:effectLst/>
                        </a:rPr>
                        <a:t>Gate-Based System</a:t>
                      </a:r>
                      <a:endParaRPr lang="en-PK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600" b="1" kern="100" dirty="0">
                          <a:effectLst/>
                        </a:rPr>
                        <a:t>Microcontroller-Based System</a:t>
                      </a:r>
                      <a:endParaRPr lang="en-PK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3661208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Response Time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Instant (hardware-level)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Slight processing delay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14031595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Flexibility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Fixed logic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>
                          <a:effectLst/>
                        </a:rPr>
                        <a:t>Highly programmable</a:t>
                      </a:r>
                      <a:endParaRPr lang="en-PK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2277594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Complexity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Increases with scale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>
                          <a:effectLst/>
                        </a:rPr>
                        <a:t>Managed via software</a:t>
                      </a:r>
                      <a:endParaRPr lang="en-PK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145070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Cost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Low for small systems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Higher initial cost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2725796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Scalability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Limited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b="1" kern="100" dirty="0">
                          <a:effectLst/>
                        </a:rPr>
                        <a:t>Highly scalable</a:t>
                      </a:r>
                      <a:endParaRPr lang="en-PK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4625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3628CC-C9D9-250E-D113-5FBDFFA3C04B}"/>
              </a:ext>
            </a:extLst>
          </p:cNvPr>
          <p:cNvSpPr txBox="1"/>
          <p:nvPr/>
        </p:nvSpPr>
        <p:spPr>
          <a:xfrm>
            <a:off x="718457" y="228600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600" b="1" dirty="0">
                <a:solidFill>
                  <a:srgbClr val="002060"/>
                </a:solidFill>
              </a:rPr>
              <a:t>Comparison with Microcontroller-Based Systems</a:t>
            </a:r>
            <a:endParaRPr lang="en-PK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291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1F4A56-8F89-DFC8-2FCA-6B437E7A7CCE}"/>
              </a:ext>
            </a:extLst>
          </p:cNvPr>
          <p:cNvSpPr txBox="1"/>
          <p:nvPr/>
        </p:nvSpPr>
        <p:spPr>
          <a:xfrm>
            <a:off x="4746170" y="1349829"/>
            <a:ext cx="4615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4800" b="1" dirty="0">
              <a:solidFill>
                <a:srgbClr val="09687B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33554" y="392726"/>
            <a:ext cx="6514011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9999"/>
                </a:solidFill>
              </a:rPr>
              <a:t>Advantages of the Logic Gate-Based </a:t>
            </a:r>
            <a:r>
              <a:rPr lang="en-US" sz="2400" b="1" dirty="0" smtClean="0">
                <a:solidFill>
                  <a:srgbClr val="009999"/>
                </a:solidFill>
              </a:rPr>
              <a:t>System:</a:t>
            </a:r>
          </a:p>
          <a:p>
            <a:endParaRPr lang="en-US" sz="2400" b="1" dirty="0" smtClean="0">
              <a:solidFill>
                <a:srgbClr val="009999"/>
              </a:solidFill>
            </a:endParaRPr>
          </a:p>
          <a:p>
            <a:r>
              <a:rPr lang="en-US" b="1" dirty="0" smtClean="0"/>
              <a:t>1. Simplicity </a:t>
            </a:r>
            <a:r>
              <a:rPr lang="en-US" b="1" dirty="0"/>
              <a:t>and Reliability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		The </a:t>
            </a:r>
            <a:r>
              <a:rPr lang="en-US" dirty="0"/>
              <a:t>gate-based system is straightforward, with fewer components compared to microcontroller-based systems, leading to increased reliability and easier troubleshooting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2</a:t>
            </a:r>
            <a:r>
              <a:rPr lang="en-US" b="1" dirty="0"/>
              <a:t>. </a:t>
            </a:r>
            <a:r>
              <a:rPr lang="en-US" b="1" dirty="0" smtClean="0"/>
              <a:t>Cost-Effective </a:t>
            </a:r>
            <a:r>
              <a:rPr lang="en-US" b="1" dirty="0"/>
              <a:t>Implementation</a:t>
            </a:r>
            <a:r>
              <a:rPr lang="en-US" b="1" dirty="0" smtClean="0"/>
              <a:t>:  </a:t>
            </a:r>
          </a:p>
          <a:p>
            <a:r>
              <a:rPr lang="en-US" dirty="0" smtClean="0"/>
              <a:t> 		Using </a:t>
            </a:r>
            <a:r>
              <a:rPr lang="en-US" dirty="0"/>
              <a:t>basic logic gates reduces overall costs, making it accessible for various hospital setups without significant investment in advanced electronics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3</a:t>
            </a:r>
            <a:r>
              <a:rPr lang="en-US" b="1" dirty="0"/>
              <a:t>. </a:t>
            </a:r>
            <a:r>
              <a:rPr lang="en-US" b="1" dirty="0" smtClean="0"/>
              <a:t>Fast </a:t>
            </a:r>
            <a:r>
              <a:rPr lang="en-US" b="1" dirty="0"/>
              <a:t>Response Time</a:t>
            </a:r>
            <a:r>
              <a:rPr lang="en-US" b="1" dirty="0" smtClean="0"/>
              <a:t>:    </a:t>
            </a:r>
          </a:p>
          <a:p>
            <a:r>
              <a:rPr lang="en-US" dirty="0"/>
              <a:t>	</a:t>
            </a:r>
            <a:r>
              <a:rPr lang="en-US" dirty="0" smtClean="0"/>
              <a:t>	Pure </a:t>
            </a:r>
            <a:r>
              <a:rPr lang="en-US" dirty="0"/>
              <a:t>hardware logic ensures rapid decision-making, essential in critical situations like Code Blue, where every second counts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4</a:t>
            </a:r>
            <a:r>
              <a:rPr lang="en-US" b="1" dirty="0"/>
              <a:t>. </a:t>
            </a:r>
            <a:r>
              <a:rPr lang="en-US" b="1" dirty="0" smtClean="0"/>
              <a:t>Ease </a:t>
            </a:r>
            <a:r>
              <a:rPr lang="en-US" b="1" dirty="0"/>
              <a:t>of Integration</a:t>
            </a:r>
            <a:r>
              <a:rPr lang="en-US" b="1" dirty="0" smtClean="0"/>
              <a:t>:    </a:t>
            </a:r>
          </a:p>
          <a:p>
            <a:r>
              <a:rPr lang="en-US" b="1" dirty="0" smtClean="0"/>
              <a:t> 		</a:t>
            </a:r>
            <a:r>
              <a:rPr lang="en-US" dirty="0" smtClean="0"/>
              <a:t>The </a:t>
            </a:r>
            <a:r>
              <a:rPr lang="en-US" dirty="0"/>
              <a:t>circuit can be integrated into existing hospital alarm systems with minimal modifications, enhancing overall workflow.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69" y="0"/>
            <a:ext cx="4358238" cy="687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0E8DA-4A41-85B2-67E2-905A770B0940}"/>
              </a:ext>
            </a:extLst>
          </p:cNvPr>
          <p:cNvSpPr txBox="1"/>
          <p:nvPr/>
        </p:nvSpPr>
        <p:spPr>
          <a:xfrm>
            <a:off x="570412" y="1271451"/>
            <a:ext cx="5954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9687B"/>
                </a:solidFill>
              </a:rPr>
              <a:t>Conclusions</a:t>
            </a:r>
            <a:endParaRPr lang="en-PK" sz="5400" b="1" dirty="0">
              <a:solidFill>
                <a:srgbClr val="09687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215C7-8C47-6BCF-90BE-69AC60804B9A}"/>
              </a:ext>
            </a:extLst>
          </p:cNvPr>
          <p:cNvSpPr txBox="1"/>
          <p:nvPr/>
        </p:nvSpPr>
        <p:spPr>
          <a:xfrm>
            <a:off x="185058" y="2638918"/>
            <a:ext cx="79792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The</a:t>
            </a:r>
            <a:r>
              <a:rPr lang="en-US" dirty="0"/>
              <a:t> system successfully implements hierarchical prioritization with basic logic gates, delivering </a:t>
            </a:r>
            <a:r>
              <a:rPr lang="en-US" b="1" dirty="0"/>
              <a:t>reliable, instant</a:t>
            </a:r>
            <a:r>
              <a:rPr lang="en-US" dirty="0"/>
              <a:t> responses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This simple, deterministic design provides a robust foundation for scaling toward </a:t>
            </a:r>
          </a:p>
          <a:p>
            <a:r>
              <a:rPr lang="en-US" dirty="0"/>
              <a:t>more advanced medical notification systems.</a:t>
            </a:r>
          </a:p>
          <a:p>
            <a:endParaRPr lang="en-PK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86" y="1090471"/>
            <a:ext cx="3829584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6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5428" y="1088572"/>
            <a:ext cx="917883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this ICU Nurse Call Priority System model as a foundation, you can implement several future enhancements to improve functionality, efficiency, and user experience. </a:t>
            </a:r>
            <a:endParaRPr lang="en-US" dirty="0" smtClean="0"/>
          </a:p>
          <a:p>
            <a:r>
              <a:rPr lang="en-US" dirty="0" smtClean="0"/>
              <a:t>Here </a:t>
            </a:r>
            <a:r>
              <a:rPr lang="en-US" dirty="0"/>
              <a:t>are some ways to do that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Future </a:t>
            </a:r>
            <a:r>
              <a:rPr lang="en-US" b="1" dirty="0"/>
              <a:t>Enhancements for the ICU Nurse Call Priority </a:t>
            </a:r>
            <a:r>
              <a:rPr lang="en-US" b="1" dirty="0" err="1"/>
              <a:t>SystemWireless</a:t>
            </a:r>
            <a:r>
              <a:rPr lang="en-US" b="1" dirty="0"/>
              <a:t> </a:t>
            </a:r>
            <a:endParaRPr lang="en-US" b="1" dirty="0" smtClean="0"/>
          </a:p>
          <a:p>
            <a:r>
              <a:rPr lang="en-US" b="1" dirty="0"/>
              <a:t> </a:t>
            </a:r>
            <a:r>
              <a:rPr lang="en-US" b="1" dirty="0" smtClean="0"/>
              <a:t>     Communication </a:t>
            </a:r>
            <a:r>
              <a:rPr lang="en-US" b="1" dirty="0"/>
              <a:t>Integration</a:t>
            </a:r>
            <a:r>
              <a:rPr lang="en-US" b="1" dirty="0" smtClean="0"/>
              <a:t>: </a:t>
            </a:r>
          </a:p>
          <a:p>
            <a:pPr lvl="2"/>
            <a:r>
              <a:rPr lang="en-US" dirty="0" smtClean="0"/>
              <a:t>Incorporate </a:t>
            </a:r>
            <a:r>
              <a:rPr lang="en-US" dirty="0"/>
              <a:t>wireless modules (e.g., Wi-Fi, Bluetooth, </a:t>
            </a:r>
            <a:r>
              <a:rPr lang="en-US" dirty="0" err="1"/>
              <a:t>Zigbee</a:t>
            </a:r>
            <a:r>
              <a:rPr lang="en-US" dirty="0"/>
              <a:t>) to </a:t>
            </a:r>
            <a:r>
              <a:rPr lang="en-US" dirty="0" smtClean="0"/>
              <a:t>eliminate</a:t>
            </a:r>
          </a:p>
          <a:p>
            <a:pPr lvl="2"/>
            <a:r>
              <a:rPr lang="en-US" dirty="0" smtClean="0"/>
              <a:t>wiring </a:t>
            </a:r>
            <a:r>
              <a:rPr lang="en-US" dirty="0"/>
              <a:t>and enable remote alerts to nurses' mobile devices or central </a:t>
            </a:r>
            <a:endParaRPr lang="en-US" dirty="0" smtClean="0"/>
          </a:p>
          <a:p>
            <a:pPr lvl="2"/>
            <a:r>
              <a:rPr lang="en-US" dirty="0" smtClean="0"/>
              <a:t>monitoring </a:t>
            </a:r>
            <a:r>
              <a:rPr lang="en-US" dirty="0"/>
              <a:t>stations</a:t>
            </a:r>
            <a:r>
              <a:rPr lang="en-US" dirty="0" smtClean="0"/>
              <a:t>.</a:t>
            </a:r>
          </a:p>
          <a:p>
            <a:pPr lvl="2"/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Digital </a:t>
            </a:r>
            <a:r>
              <a:rPr lang="en-US" b="1" dirty="0"/>
              <a:t>Display and Interface</a:t>
            </a:r>
            <a:r>
              <a:rPr lang="en-US" b="1" dirty="0" smtClean="0"/>
              <a:t>:</a:t>
            </a:r>
          </a:p>
          <a:p>
            <a:pPr lvl="2"/>
            <a:r>
              <a:rPr lang="en-US" dirty="0" smtClean="0"/>
              <a:t>Add </a:t>
            </a:r>
            <a:r>
              <a:rPr lang="en-US" dirty="0"/>
              <a:t>LCD or LED displays to show real-time patient status, priority level, </a:t>
            </a:r>
            <a:endParaRPr lang="en-US" dirty="0" smtClean="0"/>
          </a:p>
          <a:p>
            <a:pPr lvl="2"/>
            <a:r>
              <a:rPr lang="en-US" dirty="0" smtClean="0"/>
              <a:t>or </a:t>
            </a:r>
            <a:r>
              <a:rPr lang="en-US" dirty="0"/>
              <a:t>room number, improving clarity and quick response</a:t>
            </a:r>
            <a:r>
              <a:rPr lang="en-US" dirty="0" smtClean="0"/>
              <a:t>.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smtClean="0"/>
              <a:t>Emergency </a:t>
            </a:r>
            <a:r>
              <a:rPr lang="en-US" b="1" dirty="0"/>
              <a:t>and Backup Systems</a:t>
            </a:r>
            <a:r>
              <a:rPr lang="en-US" b="1" dirty="0" smtClean="0"/>
              <a:t>:</a:t>
            </a:r>
          </a:p>
          <a:p>
            <a:pPr lvl="2"/>
            <a:r>
              <a:rPr lang="en-US" dirty="0" smtClean="0"/>
              <a:t>Incorporate </a:t>
            </a:r>
            <a:r>
              <a:rPr lang="en-US" dirty="0"/>
              <a:t>backup power supplies (UPS) to maintain operation during </a:t>
            </a:r>
            <a:endParaRPr lang="en-US" dirty="0" smtClean="0"/>
          </a:p>
          <a:p>
            <a:pPr lvl="2"/>
            <a:r>
              <a:rPr lang="en-US" dirty="0" smtClean="0"/>
              <a:t>power </a:t>
            </a:r>
            <a:r>
              <a:rPr lang="en-US" dirty="0"/>
              <a:t>outages.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6074" y="338116"/>
            <a:ext cx="787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9687B"/>
                </a:solidFill>
              </a:rPr>
              <a:t>Future Enhancement</a:t>
            </a:r>
            <a:endParaRPr lang="en-US" sz="3200" b="1" dirty="0">
              <a:solidFill>
                <a:srgbClr val="09687B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686" y="34835"/>
            <a:ext cx="3875314" cy="67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922</Words>
  <Application>Microsoft Office PowerPoint</Application>
  <PresentationFormat>Widescreen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Laiba Sheikh</dc:creator>
  <cp:lastModifiedBy>Hoor Noor</cp:lastModifiedBy>
  <cp:revision>24</cp:revision>
  <dcterms:created xsi:type="dcterms:W3CDTF">2026-05-04T13:26:55Z</dcterms:created>
  <dcterms:modified xsi:type="dcterms:W3CDTF">2026-05-11T07:26:54Z</dcterms:modified>
</cp:coreProperties>
</file>